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1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0990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6B1A26"/>
          </a:solidFill>
          <a:ln w="12700">
            <a:solidFill>
              <a:srgbClr val="6B1A2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Shape 2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" name="Text 3"/>
          <p:cNvSpPr/>
          <p:nvPr/>
        </p:nvSpPr>
        <p:spPr>
          <a:xfrm>
            <a:off x="7498080" y="25603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Pictet</a:t>
            </a:r>
            <a:r>
              <a:rPr lang="en-US" sz="11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Geneva Crypto Club · April 21st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8F9FA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The Merchant of Venice</a:t>
            </a:r>
            <a:endParaRPr lang="en-US" sz="4800" dirty="0">
              <a:latin typeface="Helvetica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smart contract demo on Ethereum Sepolia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788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spc="3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Escrow · Solidity · MetaMask · Remix 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Solutions  ·  Geneva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98157" y="731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Two principals. One contract. Real skin in the game</a:t>
            </a:r>
            <a:r>
              <a:rPr lang="en-US" sz="2600" b="1" dirty="0">
                <a:solidFill>
                  <a:srgbClr val="8B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97480" cy="164592"/>
          </a:xfrm>
          <a:prstGeom prst="rect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Shylock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1188720" cy="256032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contract,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terms,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disburses the loan.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3337560" y="1508760"/>
            <a:ext cx="269748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Antonio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74720" y="2286000"/>
            <a:ext cx="1188720" cy="256032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collateral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(twice the loan),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repays or forfeits.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6355080" y="1508760"/>
            <a:ext cx="2697480" cy="164592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Contract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2286000"/>
            <a:ext cx="1188720" cy="256032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6492240" y="22860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265176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collateral in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escrow. Enforces all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on-chain.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= 2 × loan amount  ·  200% secured  ·  fully on-chain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4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— 60-SECOND PRIMER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8F9FA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Code that holds money and enforces rules  automatically.</a:t>
            </a:r>
            <a:endParaRPr lang="en-US" sz="2600" dirty="0">
              <a:latin typeface="Helvetica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3931920" cy="1325880"/>
          </a:xfrm>
          <a:prstGeom prst="rect">
            <a:avLst/>
          </a:prstGeom>
          <a:solidFill>
            <a:srgbClr val="6B1A26"/>
          </a:solidFill>
          <a:ln w="12700">
            <a:solidFill>
              <a:srgbClr val="7A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411480" y="1691640"/>
            <a:ext cx="73152" cy="13258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Collateral locked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Antonio's ETH is held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contract, not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Shylock directly.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3931920" cy="1325880"/>
          </a:xfrm>
          <a:prstGeom prst="rect">
            <a:avLst/>
          </a:prstGeom>
          <a:solidFill>
            <a:srgbClr val="6B1A26"/>
          </a:solidFill>
          <a:ln w="12700">
            <a:solidFill>
              <a:srgbClr val="7A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663440" y="1691640"/>
            <a:ext cx="73152" cy="13258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Rules in 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condition enforced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automatically. No lawyers,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negotiation.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3931920" cy="1325880"/>
          </a:xfrm>
          <a:prstGeom prst="rect">
            <a:avLst/>
          </a:prstGeom>
          <a:solidFill>
            <a:srgbClr val="6B1A26"/>
          </a:solidFill>
          <a:ln w="12700">
            <a:solidFill>
              <a:srgbClr val="7A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411480" y="3200400"/>
            <a:ext cx="73152" cy="13258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594360" y="3291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Three time windows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Deposit, disbursement,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— each with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enforced deadline.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3931920" cy="1325880"/>
          </a:xfrm>
          <a:prstGeom prst="rect">
            <a:avLst/>
          </a:prstGeom>
          <a:solidFill>
            <a:srgbClr val="6B1A26"/>
          </a:solidFill>
          <a:ln w="12700">
            <a:solidFill>
              <a:srgbClr val="7A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4663440" y="3200400"/>
            <a:ext cx="73152" cy="13258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Fully transparent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46320" y="37033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permanent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auditable on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Sepolia Etherscan.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intermediary. No counterparty risk. No office hours.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3" name="Text 21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Three windows. Two parties. One enforced outcome.</a:t>
            </a:r>
            <a:endParaRPr lang="en-US" sz="2400" dirty="0">
              <a:latin typeface="Helvetica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645920" cy="137160"/>
          </a:xfrm>
          <a:prstGeom prst="rect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sets terms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ETH locked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74520" y="2240280"/>
            <a:ext cx="365760" cy="0"/>
          </a:xfrm>
          <a:prstGeom prst="line">
            <a:avLst/>
          </a:prstGeom>
          <a:noFill/>
          <a:ln w="254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3" name="Shape 11"/>
          <p:cNvSpPr/>
          <p:nvPr/>
        </p:nvSpPr>
        <p:spPr>
          <a:xfrm>
            <a:off x="2011680" y="1417320"/>
            <a:ext cx="1645920" cy="1371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4" name="Shape 12"/>
          <p:cNvSpPr/>
          <p:nvPr/>
        </p:nvSpPr>
        <p:spPr>
          <a:xfrm>
            <a:off x="2606040" y="160020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26060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collateral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84832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locks 2× loan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disbursement clock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2240280"/>
            <a:ext cx="365760" cy="0"/>
          </a:xfrm>
          <a:prstGeom prst="line">
            <a:avLst/>
          </a:prstGeom>
          <a:noFill/>
          <a:ln w="254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Shape 17"/>
          <p:cNvSpPr/>
          <p:nvPr/>
        </p:nvSpPr>
        <p:spPr>
          <a:xfrm>
            <a:off x="3794760" y="141732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3794760" y="1417320"/>
            <a:ext cx="1645920" cy="1371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Shape 19"/>
          <p:cNvSpPr/>
          <p:nvPr/>
        </p:nvSpPr>
        <p:spPr>
          <a:xfrm>
            <a:off x="4389120" y="1600200"/>
            <a:ext cx="457200" cy="45720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2" name="Text 20"/>
          <p:cNvSpPr/>
          <p:nvPr/>
        </p:nvSpPr>
        <p:spPr>
          <a:xfrm>
            <a:off x="43891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8620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 loan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867912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sends loan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Antonio on-chain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40680" y="2240280"/>
            <a:ext cx="365760" cy="0"/>
          </a:xfrm>
          <a:prstGeom prst="line">
            <a:avLst/>
          </a:prstGeom>
          <a:noFill/>
          <a:ln w="254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Shape 24"/>
          <p:cNvSpPr/>
          <p:nvPr/>
        </p:nvSpPr>
        <p:spPr>
          <a:xfrm>
            <a:off x="5577840" y="141732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7" name="Shape 25"/>
          <p:cNvSpPr/>
          <p:nvPr/>
        </p:nvSpPr>
        <p:spPr>
          <a:xfrm>
            <a:off x="5577840" y="1417320"/>
            <a:ext cx="1645920" cy="1371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8" name="Shape 26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9" name="Text 27"/>
          <p:cNvSpPr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50992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repays loan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returned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240280"/>
            <a:ext cx="365760" cy="0"/>
          </a:xfrm>
          <a:prstGeom prst="line">
            <a:avLst/>
          </a:prstGeom>
          <a:noFill/>
          <a:ln w="254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3" name="Shape 31"/>
          <p:cNvSpPr/>
          <p:nvPr/>
        </p:nvSpPr>
        <p:spPr>
          <a:xfrm>
            <a:off x="7360920" y="1417320"/>
            <a:ext cx="1645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4" name="Shape 32"/>
          <p:cNvSpPr/>
          <p:nvPr/>
        </p:nvSpPr>
        <p:spPr>
          <a:xfrm>
            <a:off x="7360920" y="1417320"/>
            <a:ext cx="1645920" cy="13716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7955280" y="1600200"/>
            <a:ext cx="457200" cy="457200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7955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5236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34072" y="251460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claims collateral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32004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paths — no ETH can be stranded: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8600" y="361188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1" name="Shape 39"/>
          <p:cNvSpPr/>
          <p:nvPr/>
        </p:nvSpPr>
        <p:spPr>
          <a:xfrm>
            <a:off x="228600" y="3611880"/>
            <a:ext cx="54864" cy="4114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2" name="Text 40"/>
          <p:cNvSpPr/>
          <p:nvPr/>
        </p:nvSpPr>
        <p:spPr>
          <a:xfrm>
            <a:off x="356616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cancel()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96596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— Deposit window closed, no collateral deposited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663440" y="361188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5" name="Shape 43"/>
          <p:cNvSpPr/>
          <p:nvPr/>
        </p:nvSpPr>
        <p:spPr>
          <a:xfrm>
            <a:off x="4663440" y="3611880"/>
            <a:ext cx="54864" cy="4114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6" name="Text 44"/>
          <p:cNvSpPr/>
          <p:nvPr/>
        </p:nvSpPr>
        <p:spPr>
          <a:xfrm>
            <a:off x="4791456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reclaimCollateral()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— Disbursement window closed, loan never made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28600" y="411480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9" name="Shape 47"/>
          <p:cNvSpPr/>
          <p:nvPr/>
        </p:nvSpPr>
        <p:spPr>
          <a:xfrm>
            <a:off x="228600" y="4114800"/>
            <a:ext cx="54864" cy="4114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0" name="Text 48"/>
          <p:cNvSpPr/>
          <p:nvPr/>
        </p:nvSpPr>
        <p:spPr>
          <a:xfrm>
            <a:off x="356616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repay()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96596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— Before repayment deadline — collateral returned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63440" y="4114800"/>
            <a:ext cx="42062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3" name="Shape 51"/>
          <p:cNvSpPr/>
          <p:nvPr/>
        </p:nvSpPr>
        <p:spPr>
          <a:xfrm>
            <a:off x="4663440" y="4114800"/>
            <a:ext cx="54864" cy="41148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54" name="Text 52"/>
          <p:cNvSpPr/>
          <p:nvPr/>
        </p:nvSpPr>
        <p:spPr>
          <a:xfrm>
            <a:off x="4791456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B23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claimBond()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40080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— After repayment deadline — collateral forfeited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57" name="Text 55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4114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5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8F9FA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The full story : deploy, lock, lend, default, enforce</a:t>
            </a:r>
            <a:endParaRPr lang="en-US" sz="2200" dirty="0">
              <a:latin typeface="Helvetica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545336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411480" y="1545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15087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sets terms,  antonio address, loanAmount, three time windows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1965960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0208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49040" y="202082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all variables: parties, amounts, depositDeadline, flags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478024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Shape 13"/>
          <p:cNvSpPr/>
          <p:nvPr/>
        </p:nvSpPr>
        <p:spPr>
          <a:xfrm>
            <a:off x="411480" y="2569464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6" name="Text 14"/>
          <p:cNvSpPr/>
          <p:nvPr/>
        </p:nvSpPr>
        <p:spPr>
          <a:xfrm>
            <a:off x="4114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5328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rules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49040" y="253288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illegal calls;  claimBond early, wrong wallet, wrong sequence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990088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0" name="Shape 18"/>
          <p:cNvSpPr/>
          <p:nvPr/>
        </p:nvSpPr>
        <p:spPr>
          <a:xfrm>
            <a:off x="411480" y="3081528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41148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0120" y="304495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depositCollateral()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749040" y="304495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Antonio locks twice the loan,  disbursement clock starts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502152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Shape 23"/>
          <p:cNvSpPr/>
          <p:nvPr/>
        </p:nvSpPr>
        <p:spPr>
          <a:xfrm>
            <a:off x="411480" y="3593592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6" name="Text 24"/>
          <p:cNvSpPr/>
          <p:nvPr/>
        </p:nvSpPr>
        <p:spPr>
          <a:xfrm>
            <a:off x="411480" y="3593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60120" y="355701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disburseLoan()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9040" y="355701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Shylock sends loan to Antonio,  repayment clock starts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4014216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0" name="Shape 28"/>
          <p:cNvSpPr/>
          <p:nvPr/>
        </p:nvSpPr>
        <p:spPr>
          <a:xfrm>
            <a:off x="411480" y="4105656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1" name="Text 29"/>
          <p:cNvSpPr/>
          <p:nvPr/>
        </p:nvSpPr>
        <p:spPr>
          <a:xfrm>
            <a:off x="4114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406908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default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40690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timeToRepaymentDeadline() counts to zero.  Antonio does not repay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11480" y="4526280"/>
            <a:ext cx="8412480" cy="0"/>
          </a:xfrm>
          <a:prstGeom prst="line">
            <a:avLst/>
          </a:prstGeom>
          <a:noFill/>
          <a:ln w="6350">
            <a:solidFill>
              <a:srgbClr val="7A1F2D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5" name="Shape 33"/>
          <p:cNvSpPr/>
          <p:nvPr/>
        </p:nvSpPr>
        <p:spPr>
          <a:xfrm>
            <a:off x="411480" y="4617720"/>
            <a:ext cx="384048" cy="384048"/>
          </a:xfrm>
          <a:prstGeom prst="ellipse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6" name="Text 34"/>
          <p:cNvSpPr/>
          <p:nvPr/>
        </p:nvSpPr>
        <p:spPr>
          <a:xfrm>
            <a:off x="4114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" y="458114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claimBond()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749040" y="458114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passed. Shylock claims full collateral.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40" name="Text 38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8B2332"/>
          </a:solidFill>
          <a:ln w="12700">
            <a:solidFill>
              <a:srgbClr val="8B2332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500" dirty="0">
                <a:solidFill>
                  <a:srgbClr val="C49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42708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8B2332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Four patterns that make this airtight</a:t>
            </a:r>
            <a:r>
              <a:rPr lang="en-US" sz="2200" b="1" dirty="0">
                <a:solidFill>
                  <a:srgbClr val="8B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73152" cy="1664208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7" name="Text 5"/>
          <p:cNvSpPr/>
          <p:nvPr/>
        </p:nvSpPr>
        <p:spPr>
          <a:xfrm>
            <a:off x="438912" y="13898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collateral — real skin in the game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228" y="1655064"/>
            <a:ext cx="3886200" cy="804672"/>
          </a:xfrm>
          <a:prstGeom prst="rect">
            <a:avLst/>
          </a:prstGeom>
          <a:solidFill>
            <a:srgbClr val="E9ECEF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512064" y="165506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collateralAmount = loanAmount * 2;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Antonio risks twice what he borrows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8912" y="248716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Antonio defaults, Shylock recovers the loan plus the same again as penalty. The asymmetry is the deterrent.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73152" cy="1664208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3" name="Text 11"/>
          <p:cNvSpPr/>
          <p:nvPr/>
        </p:nvSpPr>
        <p:spPr>
          <a:xfrm>
            <a:off x="4919472" y="138988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deadlines — three enforced windows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19472" y="1655064"/>
            <a:ext cx="3886200" cy="804672"/>
          </a:xfrm>
          <a:prstGeom prst="rect">
            <a:avLst/>
          </a:prstGeom>
          <a:solidFill>
            <a:srgbClr val="E9ECEF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992624" y="165506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depositDeadline = deploy + depositWindow;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disbursementDeadline = deposit + disbWindow;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repaymentDeadline = disburse + repayWindow;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919472" y="248716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clock starts only when the previous action occurs. Antonio's repayment window only starts when he actually has the money.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73152" cy="1664208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9" name="Text 17"/>
          <p:cNvSpPr/>
          <p:nvPr/>
        </p:nvSpPr>
        <p:spPr>
          <a:xfrm>
            <a:off x="438912" y="317296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claimBond() claims collateral — never stranded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" y="3438144"/>
            <a:ext cx="3886200" cy="804672"/>
          </a:xfrm>
          <a:prstGeom prst="rect">
            <a:avLst/>
          </a:prstGeom>
          <a:solidFill>
            <a:srgbClr val="E9ECEF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512064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claimBond()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onlyShylock isDisbursed afterRepaymentDeadline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settled = true;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_safeTransfer(shylock, collateralAmount);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38912" y="427024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sits in the contract throughout the repayment window. claimBond() always has ETH to send. No more empty contract.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C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4" name="Shape 22"/>
          <p:cNvSpPr/>
          <p:nvPr/>
        </p:nvSpPr>
        <p:spPr>
          <a:xfrm>
            <a:off x="4754880" y="3108960"/>
            <a:ext cx="73152" cy="1664208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5" name="Text 23"/>
          <p:cNvSpPr/>
          <p:nvPr/>
        </p:nvSpPr>
        <p:spPr>
          <a:xfrm>
            <a:off x="4919472" y="317296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Checks-Effects-Interactions — everywhere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9472" y="3438144"/>
            <a:ext cx="3886200" cy="804672"/>
          </a:xfrm>
          <a:prstGeom prst="rect">
            <a:avLst/>
          </a:prstGeom>
          <a:solidFill>
            <a:srgbClr val="E9ECEF"/>
          </a:solidFill>
          <a:ln w="12700">
            <a:solidFill>
              <a:srgbClr val="D0C8B8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27" name="Text 25"/>
          <p:cNvSpPr/>
          <p:nvPr/>
        </p:nvSpPr>
        <p:spPr>
          <a:xfrm>
            <a:off x="4992624" y="343814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settled = true;              // Effect first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_safeTransfer(antonio, collateralAmount); // Then interact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_safeTransfer(shylock, loanAmount);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19472" y="4270248"/>
            <a:ext cx="39136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written before any ETH moves. Prevents reentrancy. The 2016 DAO hack took $60m by exploiting this ordering.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30" name="Text 28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6B1A26"/>
          </a:solidFill>
          <a:ln w="12700">
            <a:solidFill>
              <a:srgbClr val="6B1A26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4" name="Text 2"/>
          <p:cNvSpPr/>
          <p:nvPr/>
        </p:nvSpPr>
        <p:spPr>
          <a:xfrm>
            <a:off x="411480" y="640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9FA"/>
                </a:solidFill>
                <a:latin typeface="Helvetica" pitchFamily="2" charset="0"/>
                <a:ea typeface="Georgia" pitchFamily="34" charset="-122"/>
                <a:cs typeface="Georgia" pitchFamily="34" charset="-120"/>
              </a:rPr>
              <a:t>What we just demonstrated.</a:t>
            </a:r>
            <a:endParaRPr lang="en-US" sz="3600" dirty="0">
              <a:latin typeface="Helvetica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310896" cy="310896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secured lending lifecycle — entirely on-chain, no trust required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310896" cy="310896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9" name="Text 7"/>
          <p:cNvSpPr/>
          <p:nvPr/>
        </p:nvSpPr>
        <p:spPr>
          <a:xfrm>
            <a:off x="41148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212848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 collateral means Antonio has real skin in the game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1480" y="2734056"/>
            <a:ext cx="310896" cy="310896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2" name="Text 10"/>
          <p:cNvSpPr/>
          <p:nvPr/>
        </p:nvSpPr>
        <p:spPr>
          <a:xfrm>
            <a:off x="41148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734056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enforced time windows — no party can be trapped or cheated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3255264"/>
            <a:ext cx="310896" cy="310896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</p:spPr>
        <p:txBody>
          <a:bodyPr/>
          <a:lstStyle/>
          <a:p>
            <a:endParaRPr lang="en-CH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255264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claimBond() enforces a genuine penalty on genuine collateral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11480" y="3840480"/>
            <a:ext cx="4114800" cy="548640"/>
          </a:xfrm>
          <a:prstGeom prst="rect">
            <a:avLst/>
          </a:prstGeom>
          <a:solidFill>
            <a:srgbClr val="C4985F"/>
          </a:solidFill>
          <a:ln w="12700">
            <a:solidFill>
              <a:srgbClr val="C4985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18" name="Text 16"/>
          <p:cNvSpPr/>
          <p:nvPr/>
        </p:nvSpPr>
        <p:spPr>
          <a:xfrm>
            <a:off x="411480" y="3840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B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4636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9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Oswald  ·  FSE Solutions  ·  Geneva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H"/>
          </a:p>
        </p:txBody>
      </p:sp>
      <p:sp>
        <p:nvSpPr>
          <p:cNvPr id="21" name="Text 19"/>
          <p:cNvSpPr/>
          <p:nvPr/>
        </p:nvSpPr>
        <p:spPr>
          <a:xfrm>
            <a:off x="8092440" y="47731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B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FSE </a:t>
            </a: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680</Words>
  <Application>Microsoft Office PowerPoint</Application>
  <PresentationFormat>On-screen Show (16:9)</PresentationFormat>
  <Paragraphs>145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Merchant of Venice — FSE Solutions</dc:title>
  <dc:subject>PptxGenJS Presentation</dc:subject>
  <dc:creator>PptxGenJS</dc:creator>
  <cp:lastModifiedBy>Oswald Arbuah</cp:lastModifiedBy>
  <cp:revision>3</cp:revision>
  <dcterms:created xsi:type="dcterms:W3CDTF">2026-04-12T09:39:02Z</dcterms:created>
  <dcterms:modified xsi:type="dcterms:W3CDTF">2026-04-19T07:16:04Z</dcterms:modified>
</cp:coreProperties>
</file>